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A6A6A"/>
                </a:solidFill>
                <a:latin typeface="JetBrains Mono"/>
              </a:rPr>
              <a:t>INTERNATIONAL BLACK SEA UNIVERSITY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6A6A"/>
                </a:solidFill>
                <a:latin typeface="JetBrains Mono"/>
              </a:rPr>
              <a:t>School of Computer Science · Computer Science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4400" b="1" i="0">
                <a:solidFill>
                  <a:srgbClr val="111111"/>
                </a:solidFill>
                <a:latin typeface="Inter"/>
              </a:rPr>
              <a:t>A.L.F.R.E.D.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11111"/>
                </a:solidFill>
                <a:latin typeface="Inter"/>
              </a:rPr>
              <a:t>Adaptive Local-First Routing and Execution Distillation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Inter"/>
              </a:rPr>
              <a:t>for Small Language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3248" y="4224528"/>
            <a:ext cx="1371600" cy="45720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3601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11111"/>
                </a:solidFill>
                <a:latin typeface="Inter"/>
              </a:rPr>
              <a:t>David Zoidze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Inter"/>
              </a:rPr>
              <a:t>Bachelor's Thesis in Computer Science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6A6A6A"/>
                </a:solidFill>
                <a:latin typeface="Inter"/>
              </a:rPr>
              <a:t>Supervisor: </a:t>
            </a:r>
            <a:r>
              <a:rPr sz="1400" b="1" i="0">
                <a:solidFill>
                  <a:srgbClr val="222222"/>
                </a:solidFill>
                <a:latin typeface="Inter"/>
              </a:rPr>
              <a:t>Giorgi Merabishvili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6A6A"/>
                </a:solidFill>
                <a:latin typeface="JetBrains Mono"/>
              </a:rPr>
              <a:t>Tbilisi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The problem: easy tasks, huge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887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6A6A6A"/>
                </a:solidFill>
                <a:latin typeface="Inter"/>
              </a:rPr>
              <a:t>You say: </a:t>
            </a:r>
            <a:r>
              <a:rPr sz="2000" b="1" i="0">
                <a:solidFill>
                  <a:srgbClr val="111111"/>
                </a:solidFill>
                <a:latin typeface="Inter"/>
              </a:rPr>
              <a:t>“set an alarm for 7:00.”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Inter"/>
              </a:rPr>
              <a:t>Today, an agent system answers that with a billion-dollar habit: send it to the biggest model available and let it think.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2286000"/>
            <a:ext cx="11146536" cy="228600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514600"/>
            <a:ext cx="10515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6A6A6A"/>
                </a:solidFill>
                <a:latin typeface="JetBrains Mono"/>
              </a:rPr>
              <a:t>WHAT THE BIG-MODEL HABIT COSTS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It doesn't fit</a:t>
            </a:r>
            <a:r>
              <a:rPr sz="1400" b="0" i="0">
                <a:solidFill>
                  <a:srgbClr val="222222"/>
                </a:solidFill>
                <a:latin typeface="Inter"/>
              </a:rPr>
              <a:t>  —  a model big enough to reason reliably does not run on a phone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It's slow and costs money</a:t>
            </a:r>
            <a:r>
              <a:rPr sz="1400" b="0" i="0">
                <a:solidFill>
                  <a:srgbClr val="222222"/>
                </a:solidFill>
                <a:latin typeface="Inter"/>
              </a:rPr>
              <a:t>  —  seconds and a cloud bill, for a task a human does with one tap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It leaks</a:t>
            </a:r>
            <a:r>
              <a:rPr sz="1400" b="0" i="0">
                <a:solidFill>
                  <a:srgbClr val="222222"/>
                </a:solidFill>
                <a:latin typeface="Inter"/>
              </a:rPr>
              <a:t>  —  the request carries personal context that never needed to leave the device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And it is still wrong</a:t>
            </a:r>
            <a:r>
              <a:rPr sz="1400" b="0" i="0">
                <a:solidFill>
                  <a:srgbClr val="222222"/>
                </a:solidFill>
                <a:latin typeface="Inter"/>
              </a:rPr>
              <a:t>  —  we will show that even a 35-billion-parameter model fails on real phone settings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4892040"/>
            <a:ext cx="11146536" cy="1051560"/>
          </a:xfrm>
          <a:prstGeom prst="rect">
            <a:avLst/>
          </a:prstGeom>
          <a:solidFill>
            <a:srgbClr val="E9EDF3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607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22222"/>
                </a:solidFill>
                <a:latin typeface="Inter"/>
              </a:rPr>
              <a:t>Setting an alarm is an easy task. </a:t>
            </a:r>
            <a:r>
              <a:rPr sz="1700" b="1" i="0">
                <a:solidFill>
                  <a:srgbClr val="111111"/>
                </a:solidFill>
                <a:latin typeface="Inter"/>
              </a:rPr>
              <a:t>Why does it need a model that can write poetry?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6A"/>
                </a:solidFill>
                <a:latin typeface="Inter"/>
              </a:rPr>
              <a:t>This thesis asks: how little model does a phone action actually need?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The observation: these tasks are repetitive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887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Inter"/>
              </a:rPr>
              <a:t>Look at what people actually ask a phone to do. The same requests, over and over, with one word changing: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1828800"/>
            <a:ext cx="5394960" cy="214884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29968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6A6A6A"/>
                </a:solidFill>
                <a:latin typeface="JetBrains Mono"/>
              </a:rPr>
              <a:t>THE REQUEST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11111"/>
                </a:solidFill>
                <a:latin typeface="Inter"/>
              </a:rPr>
              <a:t>“set an alarm for 7:00”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11111"/>
                </a:solidFill>
                <a:latin typeface="Inter"/>
              </a:rPr>
              <a:t>“set an alarm for 8:30”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11111"/>
                </a:solidFill>
                <a:latin typeface="Inter"/>
              </a:rPr>
              <a:t>“set an alarm for noon”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828800"/>
            <a:ext cx="5422392" cy="214884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029968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6A6A6A"/>
                </a:solidFill>
                <a:latin typeface="JetBrains Mono"/>
              </a:rPr>
              <a:t>THE COMMAND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JetBrains Mono"/>
              </a:rPr>
              <a:t>clock alarm -t </a:t>
            </a:r>
            <a:r>
              <a:rPr sz="1500" b="1" i="0">
                <a:solidFill>
                  <a:srgbClr val="35619B"/>
                </a:solidFill>
                <a:latin typeface="JetBrains Mono"/>
              </a:rPr>
              <a:t>7:00</a:t>
            </a:r>
            <a:r>
              <a:rPr sz="1500" b="0" i="0">
                <a:solidFill>
                  <a:srgbClr val="222222"/>
                </a:solidFill>
                <a:latin typeface="JetBrains Mono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JetBrains Mono"/>
              </a:rPr>
              <a:t>clock alarm -t </a:t>
            </a:r>
            <a:r>
              <a:rPr sz="1500" b="1" i="0">
                <a:solidFill>
                  <a:srgbClr val="35619B"/>
                </a:solidFill>
                <a:latin typeface="JetBrains Mono"/>
              </a:rPr>
              <a:t>8:30</a:t>
            </a:r>
            <a:r>
              <a:rPr sz="1500" b="0" i="0">
                <a:solidFill>
                  <a:srgbClr val="222222"/>
                </a:solidFill>
                <a:latin typeface="JetBrains Mono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JetBrains Mono"/>
              </a:rPr>
              <a:t>clock alarm -t </a:t>
            </a:r>
            <a:r>
              <a:rPr sz="1500" b="1" i="0">
                <a:solidFill>
                  <a:srgbClr val="35619B"/>
                </a:solidFill>
                <a:latin typeface="JetBrains Mono"/>
              </a:rPr>
              <a:t>noon</a:t>
            </a:r>
            <a:r>
              <a:rPr sz="1500" b="0" i="0">
                <a:solidFill>
                  <a:srgbClr val="222222"/>
                </a:solidFill>
                <a:latin typeface="JetBrains Mon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416052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11111"/>
                </a:solidFill>
                <a:latin typeface="Inter"/>
              </a:rPr>
              <a:t>The command never changes shape. Only the blank changes. </a:t>
            </a:r>
            <a:r>
              <a:rPr sz="1600" b="0" i="0">
                <a:solidFill>
                  <a:srgbClr val="222222"/>
                </a:solidFill>
                <a:latin typeface="Inter"/>
              </a:rPr>
              <a:t>And there is exactly one right answer — the alarm is set for 7:00 or it is not.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5120640"/>
            <a:ext cx="11146536" cy="1005840"/>
          </a:xfrm>
          <a:prstGeom prst="rect">
            <a:avLst/>
          </a:prstGeom>
          <a:solidFill>
            <a:srgbClr val="E9EDF3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Inter"/>
              </a:rPr>
              <a:t>So here is the idea: </a:t>
            </a:r>
            <a:r>
              <a:rPr sz="1600" b="1" i="0">
                <a:solidFill>
                  <a:srgbClr val="111111"/>
                </a:solidFill>
                <a:latin typeface="Inter"/>
              </a:rPr>
              <a:t>make the command shape a fixed, deterministic template — and let a tiny model do the only creative part: filling in the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The idea: a reflex for the routine, a brain for the 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524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Inter"/>
              </a:rPr>
              <a:t>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2807208"/>
            <a:ext cx="640080" cy="0"/>
          </a:xfrm>
          <a:prstGeom prst="line">
            <a:avLst/>
          </a:prstGeom>
          <a:ln w="22225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2377440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524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Router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Inter"/>
              </a:rPr>
              <a:t>seen this before?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343400" y="2103120"/>
            <a:ext cx="1005840" cy="502920"/>
          </a:xfrm>
          <a:prstGeom prst="line">
            <a:avLst/>
          </a:prstGeom>
          <a:ln w="22225">
            <a:solidFill>
              <a:srgbClr val="3561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43400" y="3017520"/>
            <a:ext cx="1005840" cy="502920"/>
          </a:xfrm>
          <a:prstGeom prst="line">
            <a:avLst/>
          </a:prstGeom>
          <a:ln w="22225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89120" y="1947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5619B"/>
                </a:solidFill>
                <a:latin typeface="JetBrains Mono"/>
              </a:rPr>
              <a:t>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4107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A6A6A"/>
                </a:solidFill>
                <a:latin typeface="JetBrains Mono"/>
              </a:rPr>
              <a:t>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1691640"/>
            <a:ext cx="2560320" cy="868680"/>
          </a:xfrm>
          <a:prstGeom prst="roundRect">
            <a:avLst>
              <a:gd name="adj" fmla="val 12000"/>
            </a:avLst>
          </a:prstGeom>
          <a:solidFill>
            <a:srgbClr val="4A7EBB"/>
          </a:solidFill>
          <a:ln w="15240">
            <a:solidFill>
              <a:srgbClr val="3561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Inter"/>
              </a:rPr>
              <a:t>tiny model (2B)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fills the blank · one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3200400"/>
            <a:ext cx="2560320" cy="8686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524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Inter"/>
              </a:rPr>
              <a:t>big model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6A"/>
                </a:solidFill>
                <a:latin typeface="Inter"/>
              </a:rPr>
              <a:t>thinks it through · many steps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09560" y="2121408"/>
            <a:ext cx="1005840" cy="530352"/>
          </a:xfrm>
          <a:prstGeom prst="line">
            <a:avLst/>
          </a:prstGeom>
          <a:ln w="22225">
            <a:solidFill>
              <a:srgbClr val="3561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909560" y="3063240"/>
            <a:ext cx="1005840" cy="566928"/>
          </a:xfrm>
          <a:prstGeom prst="line">
            <a:avLst/>
          </a:prstGeom>
          <a:ln w="22225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15400" y="23774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524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Inter"/>
              </a:rPr>
              <a:t>phone 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350" b="1" i="0">
                <a:solidFill>
                  <a:srgbClr val="111111"/>
                </a:solidFill>
                <a:latin typeface="Inter"/>
              </a:rPr>
              <a:t>It is the reflex-vs-thinking split from psychology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practiced actions run fast and automatically; novel problems get slow, deliberate thought. We give the phone the same two speeds.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64607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350" b="1" i="0">
                <a:solidFill>
                  <a:srgbClr val="111111"/>
                </a:solidFill>
                <a:latin typeface="Inter"/>
              </a:rPr>
              <a:t>The tiny model is never asked to be clever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it gets the template and the request, and extracts one thing: the value for the blank. It cannot invent a wrong command — the shape is fixed.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22975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350" b="1" i="0">
                <a:solidFill>
                  <a:srgbClr val="111111"/>
                </a:solidFill>
                <a:latin typeface="Inter"/>
              </a:rPr>
              <a:t>The big model is reserved for the rare, genuinely new request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multi-step routines, vague asks, anything without a template. That is where thinking earns its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Where do the templates come from? Write them once.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Inter"/>
              </a:rPr>
              <a:t>Nobody hand-writes templates at scale. We have a smart model write them — once, offline, like a cheat sheet.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524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Inter"/>
              </a:rPr>
              <a:t>skill docs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Inter"/>
              </a:rPr>
              <a:t>how the tool works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2395728"/>
            <a:ext cx="640080" cy="0"/>
          </a:xfrm>
          <a:prstGeom prst="line">
            <a:avLst/>
          </a:prstGeom>
          <a:ln w="22225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196596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524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Inter"/>
              </a:rPr>
              <a:t>smart model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6A"/>
                </a:solidFill>
                <a:latin typeface="Inter"/>
              </a:rPr>
              <a:t>reads once, offline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94960" y="2395728"/>
            <a:ext cx="640080" cy="0"/>
          </a:xfrm>
          <a:prstGeom prst="line">
            <a:avLst/>
          </a:prstGeom>
          <a:ln w="22225">
            <a:solidFill>
              <a:srgbClr val="3561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35040" y="1965960"/>
            <a:ext cx="2194560" cy="868680"/>
          </a:xfrm>
          <a:prstGeom prst="roundRect">
            <a:avLst>
              <a:gd name="adj" fmla="val 12000"/>
            </a:avLst>
          </a:prstGeom>
          <a:solidFill>
            <a:srgbClr val="4A7EBB"/>
          </a:solidFill>
          <a:ln w="15240">
            <a:solidFill>
              <a:srgbClr val="3561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Inter"/>
              </a:rPr>
              <a:t>cheat sheet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a small JSON file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0" y="2395728"/>
            <a:ext cx="640080" cy="0"/>
          </a:xfrm>
          <a:prstGeom prst="line">
            <a:avLst/>
          </a:prstGeom>
          <a:ln w="22225">
            <a:solidFill>
              <a:srgbClr val="3561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69680" y="1965960"/>
            <a:ext cx="2834640" cy="8686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524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Inter"/>
              </a:rPr>
              <a:t>tiny model uses it
forever, on-device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350" b="1" i="0">
                <a:solidFill>
                  <a:srgbClr val="111111"/>
                </a:solidFill>
                <a:latin typeface="Inter"/>
              </a:rPr>
              <a:t>The cheat sheet holds the knowledge, so the model doesn't have to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the command shape, what goes in each blank, and sanity checks on the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0507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350" b="1" i="0">
                <a:solidFill>
                  <a:srgbClr val="111111"/>
                </a:solidFill>
                <a:latin typeface="Inter"/>
              </a:rPr>
              <a:t>It is a file you can read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the usual way to compress a big model is to bake it into a smaller model's weights — a black box. A JSON file can be inspected, corrected, and shared. Adding a capability = adding a file.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18304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350" b="1" i="0">
                <a:solidFill>
                  <a:srgbClr val="111111"/>
                </a:solidFill>
                <a:latin typeface="Inter"/>
              </a:rPr>
              <a:t>Pay once, use thousands of times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the smart model's cost is paid at writing time, not every time you set an alarm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31536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350" b="1" i="0">
                <a:solidFill>
                  <a:srgbClr val="111111"/>
                </a:solidFill>
                <a:latin typeface="Inter"/>
              </a:rPr>
              <a:t>We play fair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the smart model never sees our test tasks or answers, and a written cheat sheet is frozen — no quiet fixing after seeing what failed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How we tested it (without fooling ourselves)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80160"/>
            <a:ext cx="5422392" cy="2084831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80160"/>
            <a:ext cx="5422392" cy="54864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" y="149961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5619B"/>
                </a:solidFill>
                <a:latin typeface="JetBrains Mono"/>
              </a:rPr>
              <a:t>A FAKE PHONE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11111"/>
                </a:solidFill>
                <a:latin typeface="Inter"/>
              </a:rPr>
              <a:t>A sandboxed settings backend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Inter"/>
              </a:rPr>
              <a:t>every task runs on a fresh copy of the phone's state; the copy is destroyed afterward — no real device, no network, nothing persists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280160"/>
            <a:ext cx="5422392" cy="2084831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280160"/>
            <a:ext cx="5422392" cy="54864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9961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5619B"/>
                </a:solidFill>
                <a:latin typeface="JetBrains Mono"/>
              </a:rPr>
              <a:t>JUDGE THE OUTCOME, NOT THE WORDS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11111"/>
                </a:solidFill>
                <a:latin typeface="Inter"/>
              </a:rPr>
              <a:t>Did the phone end up right?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Inter"/>
              </a:rPr>
              <a:t>a command can look perfect and do the wrong thing — so we only check the final state, and fail the task if anything else was touched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3520440"/>
            <a:ext cx="5422392" cy="2084831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7" y="3520440"/>
            <a:ext cx="5422392" cy="54864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" y="373989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5619B"/>
                </a:solidFill>
                <a:latin typeface="JetBrains Mono"/>
              </a:rPr>
              <a:t>THREE DIFFICULTY LEVELS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11111"/>
                </a:solidFill>
                <a:latin typeface="Inter"/>
              </a:rPr>
              <a:t>From friendly to realistic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Inter"/>
              </a:rPr>
              <a:t>409 one-shot tasks across 7 tools · a clean, helpful settings interface · a faithful copy of Android's messy one, which accepts wrong values silently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3520440"/>
            <a:ext cx="5422392" cy="2084831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3520440"/>
            <a:ext cx="5422392" cy="54864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73989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5619B"/>
                </a:solidFill>
                <a:latin typeface="JetBrains Mono"/>
              </a:rPr>
              <a:t>EVERY NUMBER IS A SAVED RUN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11111"/>
                </a:solidFill>
                <a:latin typeface="Inter"/>
              </a:rPr>
              <a:t>No hand-edited results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Inter"/>
              </a:rPr>
              <a:t>each figure cites the log file it came from; models run one at a time; all models are quantized to fit a real phone's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580644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6A6A"/>
                </a:solidFill>
                <a:latin typeface="Inter"/>
              </a:rPr>
              <a:t>To measure the executor alone, routing is assumed correct in these tests — the router is measured separately (slide 9).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Result 1 — The cheat sheet replaces 17× the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4300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A6A6A"/>
                </a:solidFill>
                <a:latin typeface="Inter"/>
              </a:rPr>
              <a:t>Same tasks, same scoring. How often does each setup produce the correct command?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5212079"/>
            <a:ext cx="6217920" cy="18288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4238244"/>
            <a:ext cx="1209979" cy="973836"/>
          </a:xfrm>
          <a:prstGeom prst="rect">
            <a:avLst/>
          </a:prstGeom>
          <a:solidFill>
            <a:srgbClr val="B5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45635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11111"/>
                </a:solidFill>
                <a:latin typeface="JetBrains Mono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Inter"/>
              </a:rPr>
              <a:t>2B alone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A6A6A"/>
                </a:solidFill>
                <a:latin typeface="Inter"/>
              </a:rPr>
              <a:t>free-form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44673" y="4887467"/>
            <a:ext cx="1209979" cy="324612"/>
          </a:xfrm>
          <a:prstGeom prst="rect">
            <a:avLst/>
          </a:prstGeom>
          <a:solidFill>
            <a:srgbClr val="B5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1793" y="4594859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11111"/>
                </a:solidFill>
                <a:latin typeface="JetBrains Mono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6073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Inter"/>
              </a:rPr>
              <a:t>4B alone*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A6A6A"/>
                </a:solidFill>
                <a:latin typeface="Inter"/>
              </a:rPr>
              <a:t>free-form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3506" y="1965959"/>
            <a:ext cx="1209979" cy="32461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00626" y="1673351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11111"/>
                </a:solidFill>
                <a:latin typeface="JetBrains Mono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4906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Inter"/>
              </a:rPr>
              <a:t>35B alone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A6A6A"/>
                </a:solidFill>
                <a:latin typeface="Inter"/>
              </a:rPr>
              <a:t>free-form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22340" y="1965959"/>
            <a:ext cx="1209979" cy="3246120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39460" y="1673351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5619B"/>
                </a:solidFill>
                <a:latin typeface="JetBrains Mono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3740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2222"/>
                </a:solidFill>
                <a:latin typeface="Inter"/>
              </a:rPr>
              <a:t>2B + cheat
sheet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A6A6A"/>
                </a:solidFill>
                <a:latin typeface="Inter"/>
              </a:rPr>
              <a:t>one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0644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Inter"/>
              </a:rPr>
              <a:t>*4B ran with a small context window (a known confound) — the point: size alone is not a reliable lever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1874519"/>
            <a:ext cx="3931920" cy="1298448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1" y="2020824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35619B"/>
                </a:solidFill>
                <a:latin typeface="JetBrains Mono"/>
              </a:rPr>
              <a:t>100% = 100%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Inter"/>
              </a:rPr>
              <a:t>the tiny model with a cheat sheet matches the 35B model that reasons freely — at ~17× fewer parameters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3319272"/>
            <a:ext cx="3931920" cy="1298448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3465576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35619B"/>
                </a:solidFill>
                <a:latin typeface="JetBrains Mono"/>
              </a:rPr>
              <a:t>&lt;1 s vs 6.4 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Inter"/>
              </a:rPr>
              <a:t>one step on the phone, versus a multi-step conversation that has to run in the 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4764024"/>
            <a:ext cx="3931920" cy="1298448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2711" y="4910328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35619B"/>
                </a:solidFill>
                <a:latin typeface="JetBrains Mono"/>
              </a:rPr>
              <a:t>72/72 vs 14/72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Inter"/>
              </a:rPr>
              <a:t>holds on the full task set too: with the sheet, everything passes; without it, the same tiny model gets 1 in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Result 2 — Why even the big model fails on a real phone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4300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Inter"/>
              </a:rPr>
              <a:t>On realistic Android settings, the 35B model scores only </a:t>
            </a:r>
            <a:r>
              <a:rPr sz="1500" b="1" i="0">
                <a:solidFill>
                  <a:srgbClr val="111111"/>
                </a:solidFill>
                <a:latin typeface="JetBrains Mono"/>
              </a:rPr>
              <a:t>62.5%</a:t>
            </a:r>
            <a:r>
              <a:rPr sz="1500" b="0" i="0">
                <a:solidFill>
                  <a:srgbClr val="222222"/>
                </a:solidFill>
                <a:latin typeface="Inter"/>
              </a:rPr>
              <a:t>. Its mistakes reveal that “hard” is really two different problems: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2011680"/>
            <a:ext cx="5394960" cy="237744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484632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A6A6A"/>
                </a:solidFill>
                <a:latin typeface="JetBrains Mono"/>
              </a:rPr>
              <a:t>FINDING THE RIGHT KNOB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11111"/>
                </a:solidFill>
                <a:latin typeface="Inter"/>
              </a:rPr>
              <a:t>Which setting controls this?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22222"/>
                </a:solidFill>
                <a:latin typeface="Inter"/>
              </a:rPr>
              <a:t>This is searchable. The big model explores the interface, lists the settings, and finds the right one. Being smarter helps.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619B"/>
                </a:solidFill>
                <a:latin typeface="JetBrains Mono"/>
              </a:rPr>
              <a:t>✓ solved by scale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2011680"/>
            <a:ext cx="5422392" cy="237744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212848"/>
            <a:ext cx="484632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A6A6A"/>
                </a:solidFill>
                <a:latin typeface="JetBrains Mono"/>
              </a:rPr>
              <a:t>KNOWING THE SECRET CODE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11111"/>
                </a:solidFill>
                <a:latin typeface="Inter"/>
              </a:rPr>
              <a:t>What value does it expect?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22222"/>
                </a:solidFill>
                <a:latin typeface="Inter"/>
              </a:rPr>
              <a:t>“Total silence” is the number 2. “Largest font” is the string 1.30. That is written nowhere. The model guesses — and guesses wrong the same way every time.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619B"/>
                </a:solidFill>
                <a:latin typeface="JetBrains Mono"/>
              </a:rPr>
              <a:t>✗ no amount of thinking helps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7" y="4572000"/>
            <a:ext cx="11146536" cy="86868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69087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6A"/>
                </a:solidFill>
                <a:latin typeface="Inter"/>
              </a:rPr>
              <a:t>Real example:  </a:t>
            </a:r>
            <a:r>
              <a:rPr sz="1300" b="0" i="0">
                <a:solidFill>
                  <a:srgbClr val="222222"/>
                </a:solidFill>
                <a:latin typeface="Inter"/>
              </a:rPr>
              <a:t>“DND, total silence”</a:t>
            </a:r>
            <a:r>
              <a:rPr sz="1300" b="0" i="0">
                <a:solidFill>
                  <a:srgbClr val="6A6A6A"/>
                </a:solidFill>
                <a:latin typeface="Inter"/>
              </a:rPr>
              <a:t>  →  correct: </a:t>
            </a:r>
            <a:r>
              <a:rPr sz="1300" b="1" i="0">
                <a:solidFill>
                  <a:srgbClr val="35619B"/>
                </a:solidFill>
                <a:latin typeface="JetBrains Mono"/>
              </a:rPr>
              <a:t>zen_mode 2</a:t>
            </a:r>
            <a:r>
              <a:rPr sz="1300" b="0" i="0">
                <a:solidFill>
                  <a:srgbClr val="6A6A6A"/>
                </a:solidFill>
                <a:latin typeface="Inter"/>
              </a:rPr>
              <a:t>   the 35B answered: </a:t>
            </a:r>
            <a:r>
              <a:rPr sz="1300" b="0" i="0">
                <a:solidFill>
                  <a:srgbClr val="222222"/>
                </a:solidFill>
                <a:latin typeface="JetBrains Mono"/>
              </a:rPr>
              <a:t>1</a:t>
            </a:r>
            <a:r>
              <a:rPr sz="1300" b="0" i="0">
                <a:solidFill>
                  <a:srgbClr val="6A6A6A"/>
                </a:solidFill>
                <a:latin typeface="Inter"/>
              </a:rPr>
              <a:t>  — every single time it was asked.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7" y="5623560"/>
            <a:ext cx="11146536" cy="658368"/>
          </a:xfrm>
          <a:prstGeom prst="rect">
            <a:avLst/>
          </a:prstGeom>
          <a:solidFill>
            <a:srgbClr val="E9EDF3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Inter"/>
              </a:rPr>
              <a:t>The secret codes live in the cheat sheet. </a:t>
            </a:r>
            <a:r>
              <a:rPr sz="1500" b="0" i="0">
                <a:solidFill>
                  <a:srgbClr val="222222"/>
                </a:solidFill>
                <a:latin typeface="Inter"/>
              </a:rPr>
              <a:t>With it, the tiny model reaches 80% — beating the 35B that reasons from scratch.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What we can claim — and what is still broken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80160"/>
            <a:ext cx="3639312" cy="480060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80160"/>
            <a:ext cx="3639312" cy="54864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A6A6A"/>
                </a:solidFill>
                <a:latin typeface="JetBrains Mono"/>
              </a:rPr>
              <a:t>THE TEACHER MATTERS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35619B"/>
                </a:solidFill>
                <a:latin typeface="JetBrains Mono"/>
              </a:rPr>
              <a:t>80% vs 60%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cheat sheets written by a strong cloud model: the tiny model passes 80% of tasks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written by a mid-size local model: 60% — it bakes its own wrong guesses into the sheet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the tiny model faithfully executes whatever it is given, right or wrong — so write the sheet with the best teacher you have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4820" y="1280160"/>
            <a:ext cx="3639312" cy="480060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4820" y="1280160"/>
            <a:ext cx="3639312" cy="54864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0852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A6A6A"/>
                </a:solidFill>
                <a:latin typeface="JetBrains Mono"/>
              </a:rPr>
              <a:t>THE MATH WORKS OUT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35619B"/>
                </a:solidFill>
                <a:latin typeface="JetBrains Mono"/>
              </a:rPr>
              <a:t>pays off after ~10 uses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writing a cheat sheet costs roughly 10,000 tokens of a smart model, once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each later use saves ~1,000 tokens and 5+ seconds, and runs on the phone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for anything you do daily, that is a 100–1000× win; one-off requests just go to the big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1280160"/>
            <a:ext cx="3639312" cy="480060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2" y="1280160"/>
            <a:ext cx="3639312" cy="54864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A6A6A"/>
                </a:solidFill>
                <a:latin typeface="JetBrains Mono"/>
              </a:rPr>
              <a:t>STILL BROKEN: THE PICKER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35619B"/>
                </a:solidFill>
                <a:latin typeface="JetBrains Mono"/>
              </a:rPr>
              <a:t>66–85%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executing a chosen template is basically solved (96–100%)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choosing which template a request matches — the router — is not; it confuses similar-looking options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we say this plainly: the router is now the open problem, and it is where our future work 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Future work — in order of how much each would help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34440"/>
            <a:ext cx="11146536" cy="841248"/>
          </a:xfrm>
          <a:prstGeom prst="rect">
            <a:avLst/>
          </a:prstGeom>
          <a:solidFill>
            <a:srgbClr val="F3F5F8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34440"/>
            <a:ext cx="566928" cy="8412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234440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25880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Let the teacher look at the real phone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Inter"/>
              </a:rPr>
              <a:t>today the cheat-sheet writer works from documentation alone, so some secret codes stay guesses; give it read-only access to a real device and guesses become observed facts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2167128"/>
            <a:ext cx="11146536" cy="841248"/>
          </a:xfrm>
          <a:prstGeom prst="rect">
            <a:avLst/>
          </a:prstGeom>
          <a:solidFill>
            <a:srgbClr val="F3F5F8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7" y="2167128"/>
            <a:ext cx="566928" cy="8412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2167128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258568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Take arithmetic away from the model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Inter"/>
              </a:rPr>
              <a:t>converting “80% brightness” to the number 204 is math, not language — do it with a plain function inside the cheat sheet, so neither model can get it wrong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" y="3099816"/>
            <a:ext cx="11146536" cy="841248"/>
          </a:xfrm>
          <a:prstGeom prst="rect">
            <a:avLst/>
          </a:prstGeom>
          <a:solidFill>
            <a:srgbClr val="F3F5F8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7" y="3099816"/>
            <a:ext cx="566928" cy="8412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" y="3099816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191256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Fix the picker (the router)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Inter"/>
              </a:rPr>
              <a:t>the right template is almost always in the top 3 candidates; the failure is choosing between look-alikes — better selection prompting, or a small trained chooser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7" y="4032504"/>
            <a:ext cx="11146536" cy="841248"/>
          </a:xfrm>
          <a:prstGeom prst="rect">
            <a:avLst/>
          </a:prstGeom>
          <a:solidFill>
            <a:srgbClr val="F3F5F8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7" y="4032504"/>
            <a:ext cx="566928" cy="8412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" y="4032504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123944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Let cheat sheets improve from their own mistakes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Inter"/>
              </a:rPr>
              <a:t>run the sheet, watch what fails on a practice device, rewrite, repeat 2–3 times — a mediocre teacher climbs toward cloud quality; the on-phone part stays a frozen single step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7" y="4965192"/>
            <a:ext cx="11146536" cy="841248"/>
          </a:xfrm>
          <a:prstGeom prst="rect">
            <a:avLst/>
          </a:prstGeom>
          <a:solidFill>
            <a:srgbClr val="F3F5F8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207" y="4965192"/>
            <a:ext cx="566928" cy="8412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7" y="4965192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JetBrains Mon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056631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Learn new cheat sheets from the user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Inter"/>
              </a:rPr>
              <a:t>if you do the same three-step routine every night, that repetition can be mined into a new template — plus privacy-safe sharing of sheets between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594360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A6A6A"/>
                </a:solidFill>
                <a:latin typeface="Inter"/>
              </a:rPr>
              <a:t>All of it is planned inside one small, transparent agent framework (Pi) — the executor and the big-model loop share a single runtime.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60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4800" b="1" i="0">
                <a:solidFill>
                  <a:srgbClr val="111111"/>
                </a:solidFill>
                <a:latin typeface="Inter"/>
              </a:rPr>
              <a:t>Thank you.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35619B"/>
                </a:solidFill>
                <a:latin typeface="Inter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3248" y="3977639"/>
            <a:ext cx="1371600" cy="45720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601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11111"/>
                </a:solidFill>
                <a:latin typeface="Inter"/>
              </a:rPr>
              <a:t>David Zoidze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6A6A"/>
                </a:solidFill>
                <a:latin typeface="Inter"/>
              </a:rPr>
              <a:t>A.L.F.R.E.D.: Adaptive Local-First Routing and Execution Distillation for Small Language Models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A6A6A"/>
                </a:solidFill>
                <a:latin typeface="JetBrains Mono"/>
              </a:rPr>
              <a:t>International Black Sea University · Tbilisi ·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