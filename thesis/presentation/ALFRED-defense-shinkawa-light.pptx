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57575"/>
                </a:solidFill>
                <a:latin typeface="JetBrains Mono"/>
              </a:rPr>
              <a:t>INTERNATIONAL BLACK SEA UNIVERSITY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57575"/>
                </a:solidFill>
                <a:latin typeface="JetBrains Mono"/>
              </a:rPr>
              <a:t>School of Computer Science · Computer Science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015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4400" b="1" i="0">
                <a:solidFill>
                  <a:srgbClr val="000000"/>
                </a:solidFill>
                <a:latin typeface="Inter"/>
              </a:rPr>
              <a:t>A.L.F.R.E.D.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000000"/>
                </a:solidFill>
                <a:latin typeface="Inter"/>
              </a:rPr>
              <a:t>Adaptive Local-First Routing and Execution Distillation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000000"/>
                </a:solidFill>
                <a:latin typeface="Inter"/>
              </a:rPr>
              <a:t>for Small Language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3248" y="4224528"/>
            <a:ext cx="1371600" cy="45720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617720"/>
            <a:ext cx="1036015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00000"/>
                </a:solidFill>
                <a:latin typeface="Inter"/>
              </a:rPr>
              <a:t>David Zoidze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Inter"/>
              </a:rPr>
              <a:t>Bachelor's Thesis in Computer Science</a:t>
            </a:r>
          </a:p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757575"/>
                </a:solidFill>
                <a:latin typeface="Inter"/>
              </a:rPr>
              <a:t>Supervisor: </a:t>
            </a:r>
            <a:r>
              <a:rPr sz="1400" b="1" i="0">
                <a:solidFill>
                  <a:srgbClr val="333333"/>
                </a:solidFill>
                <a:latin typeface="Inter"/>
              </a:rPr>
              <a:t>Giorgi Merabishvili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57575"/>
                </a:solidFill>
                <a:latin typeface="JetBrains Mono"/>
              </a:rPr>
              <a:t>Tbilisi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00000"/>
                </a:solidFill>
                <a:latin typeface="Inter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000000"/>
                </a:solidFill>
                <a:latin typeface="Inter"/>
              </a:rPr>
              <a:t>How much language model does reliable on-device </a:t>
            </a:r>
            <a:r>
              <a:rPr sz="2100" b="1" i="1">
                <a:solidFill>
                  <a:srgbClr val="8A7129"/>
                </a:solidFill>
                <a:latin typeface="Inter"/>
              </a:rPr>
              <a:t>action</a:t>
            </a:r>
            <a:r>
              <a:rPr sz="2100" b="0" i="0">
                <a:solidFill>
                  <a:srgbClr val="000000"/>
                </a:solidFill>
                <a:latin typeface="Inter"/>
              </a:rPr>
              <a:t> actually require?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1965960"/>
            <a:ext cx="5394960" cy="3291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212848"/>
            <a:ext cx="48463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757575"/>
                </a:solidFill>
                <a:latin typeface="JetBrains Mono"/>
              </a:rPr>
              <a:t>WHY ON-DEVICE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000000"/>
                </a:solidFill>
                <a:latin typeface="Inter"/>
              </a:rPr>
              <a:t>Privacy</a:t>
            </a:r>
            <a:r>
              <a:rPr sz="1350" b="0" i="0">
                <a:solidFill>
                  <a:srgbClr val="333333"/>
                </a:solidFill>
                <a:latin typeface="Inter"/>
              </a:rPr>
              <a:t>  —  action requests carry personal context that should never leave the device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000000"/>
                </a:solidFill>
                <a:latin typeface="Inter"/>
              </a:rPr>
              <a:t>Cost &amp; latency</a:t>
            </a:r>
            <a:r>
              <a:rPr sz="1350" b="0" i="0">
                <a:solidFill>
                  <a:srgbClr val="333333"/>
                </a:solidFill>
                <a:latin typeface="Inter"/>
              </a:rPr>
              <a:t>  —  a local model answers in milliseconds, with no round-trip and no per-call bill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000000"/>
                </a:solidFill>
                <a:latin typeface="Inter"/>
              </a:rPr>
              <a:t>Availability</a:t>
            </a:r>
            <a:r>
              <a:rPr sz="1350" b="0" i="0">
                <a:solidFill>
                  <a:srgbClr val="333333"/>
                </a:solidFill>
                <a:latin typeface="Inter"/>
              </a:rPr>
              <a:t>  —  the device should still work offline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57575"/>
                </a:solidFill>
                <a:latin typeface="Inter"/>
              </a:rPr>
              <a:t>Google (Gemini Nano / AICore) and Apple (Apple Intelligence) already make this bet.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965960"/>
            <a:ext cx="5422392" cy="3291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212848"/>
            <a:ext cx="48463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757575"/>
                </a:solidFill>
                <a:latin typeface="JetBrains Mono"/>
              </a:rPr>
              <a:t>THE SQUEEZE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000000"/>
                </a:solidFill>
                <a:latin typeface="Inter"/>
              </a:rPr>
              <a:t>Small model, free-form</a:t>
            </a:r>
            <a:r>
              <a:rPr sz="1350" b="0" i="0">
                <a:solidFill>
                  <a:srgbClr val="333333"/>
                </a:solidFill>
                <a:latin typeface="Inter"/>
              </a:rPr>
              <a:t>  —  unreliable executor: fails to act, or invents commands from pretraining priors (30% binding)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000000"/>
                </a:solidFill>
                <a:latin typeface="Inter"/>
              </a:rPr>
              <a:t>Large model</a:t>
            </a:r>
            <a:r>
              <a:rPr sz="1350" b="0" i="0">
                <a:solidFill>
                  <a:srgbClr val="333333"/>
                </a:solidFill>
                <a:latin typeface="Inter"/>
              </a:rPr>
              <a:t>  —  does not fit on the phone, an order of magnitude slower, costs per call — and is still wrong on device conventions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57575"/>
                </a:solidFill>
                <a:latin typeface="Inter"/>
              </a:rPr>
              <a:t>The interesting design space: a tiny model that does not have to be clever, paired with something that supplies the knowledge it lacks.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7" y="5532120"/>
            <a:ext cx="11146536" cy="658368"/>
          </a:xfrm>
          <a:prstGeom prst="rect">
            <a:avLst/>
          </a:prstGeom>
          <a:solidFill>
            <a:srgbClr val="EDEDED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Inter"/>
              </a:rPr>
              <a:t>Actions have a single correct outcome</a:t>
            </a:r>
            <a:r>
              <a:rPr sz="1500" b="0" i="0">
                <a:solidFill>
                  <a:srgbClr val="333333"/>
                </a:solidFill>
                <a:latin typeface="Inter"/>
              </a:rPr>
              <a:t>  —  either the alarm is set for 7:00 or it is not.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00000"/>
                </a:solidFill>
                <a:latin typeface="Inter"/>
              </a:rPr>
              <a:t>Thesis statement &amp; research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3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188720"/>
            <a:ext cx="11146536" cy="14813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188720"/>
            <a:ext cx="82296" cy="148132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188720"/>
            <a:ext cx="10424160" cy="1481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0" i="0">
                <a:solidFill>
                  <a:srgbClr val="000000"/>
                </a:solidFill>
                <a:latin typeface="Inter"/>
              </a:rPr>
              <a:t>On the repeatable, deterministic head of on-device tasks, </a:t>
            </a:r>
            <a:r>
              <a:rPr sz="1900" b="1" i="0">
                <a:solidFill>
                  <a:srgbClr val="8A7129"/>
                </a:solidFill>
                <a:latin typeface="Inter"/>
              </a:rPr>
              <a:t>distillation substitutes for scale</a:t>
            </a:r>
            <a:r>
              <a:rPr sz="1900" b="0" i="0">
                <a:solidFill>
                  <a:srgbClr val="000000"/>
                </a:solidFill>
                <a:latin typeface="Inter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Inter"/>
              </a:rPr>
              <a:t>A 2B executor handed a distilled symbolic pattern matches a 17× larger free-form agent in binding accuracy, at one on-device forward pass. The remaining open limit is routing, not execution.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29718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757575"/>
                </a:solidFill>
                <a:latin typeface="JetBrains Mono"/>
              </a:rPr>
              <a:t>FIVE RESEARCH QUESTIONS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3401568"/>
            <a:ext cx="11146536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01568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7129"/>
                </a:solidFill>
                <a:latin typeface="JetBrains Mono"/>
              </a:rPr>
              <a:t>RQ1  </a:t>
            </a:r>
            <a:r>
              <a:rPr sz="1300" b="1" i="0">
                <a:solidFill>
                  <a:srgbClr val="000000"/>
                </a:solidFill>
                <a:latin typeface="Inter"/>
              </a:rPr>
              <a:t>Scale vs. distillation  —  </a:t>
            </a:r>
            <a:r>
              <a:rPr sz="1300" b="0" i="0">
                <a:solidFill>
                  <a:srgbClr val="333333"/>
                </a:solidFill>
                <a:latin typeface="Inter"/>
              </a:rPr>
              <a:t>how much model does reliable binding need — can a pattern close the gap?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7" y="3986784"/>
            <a:ext cx="11146536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86784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7129"/>
                </a:solidFill>
                <a:latin typeface="JetBrains Mono"/>
              </a:rPr>
              <a:t>RQ2  </a:t>
            </a:r>
            <a:r>
              <a:rPr sz="1300" b="1" i="0">
                <a:solidFill>
                  <a:srgbClr val="000000"/>
                </a:solidFill>
                <a:latin typeface="Inter"/>
              </a:rPr>
              <a:t>The spectrum  —  </a:t>
            </a:r>
            <a:r>
              <a:rPr sz="1300" b="0" i="0">
                <a:solidFill>
                  <a:srgbClr val="333333"/>
                </a:solidFill>
                <a:latin typeface="Inter"/>
              </a:rPr>
              <a:t>does the reflexer's value change with API difficulty — efficiency win or accuracy win?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" y="4572000"/>
            <a:ext cx="11146536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7129"/>
                </a:solidFill>
                <a:latin typeface="JetBrains Mono"/>
              </a:rPr>
              <a:t>RQ3  </a:t>
            </a:r>
            <a:r>
              <a:rPr sz="1300" b="1" i="0">
                <a:solidFill>
                  <a:srgbClr val="000000"/>
                </a:solidFill>
                <a:latin typeface="Inter"/>
              </a:rPr>
              <a:t>The limit of scale  —  </a:t>
            </a:r>
            <a:r>
              <a:rPr sz="1300" b="0" i="0">
                <a:solidFill>
                  <a:srgbClr val="333333"/>
                </a:solidFill>
                <a:latin typeface="Inter"/>
              </a:rPr>
              <a:t>are there difficulties model scale cannot solve but a distilled pattern can?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7" y="5157216"/>
            <a:ext cx="11146536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157216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7129"/>
                </a:solidFill>
                <a:latin typeface="JetBrains Mono"/>
              </a:rPr>
              <a:t>RQ4  </a:t>
            </a:r>
            <a:r>
              <a:rPr sz="1300" b="1" i="0">
                <a:solidFill>
                  <a:srgbClr val="000000"/>
                </a:solidFill>
                <a:latin typeface="Inter"/>
              </a:rPr>
              <a:t>Teacher quality  —  </a:t>
            </a:r>
            <a:r>
              <a:rPr sz="1300" b="0" i="0">
                <a:solidFill>
                  <a:srgbClr val="333333"/>
                </a:solidFill>
                <a:latin typeface="Inter"/>
              </a:rPr>
              <a:t>how much does the choice of teacher (cloud vs. local) propagate to the student?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7" y="5742431"/>
            <a:ext cx="11146536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742431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7129"/>
                </a:solidFill>
                <a:latin typeface="JetBrains Mono"/>
              </a:rPr>
              <a:t>RQ5  </a:t>
            </a:r>
            <a:r>
              <a:rPr sz="1300" b="1" i="0">
                <a:solidFill>
                  <a:srgbClr val="000000"/>
                </a:solidFill>
                <a:latin typeface="Inter"/>
              </a:rPr>
              <a:t>Coverage &amp; routing  —  </a:t>
            </a:r>
            <a:r>
              <a:rPr sz="1300" b="0" i="0">
                <a:solidFill>
                  <a:srgbClr val="333333"/>
                </a:solidFill>
                <a:latin typeface="Inter"/>
              </a:rPr>
              <a:t>what fraction of real use-cases does this address — where is the bottleneck?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00000"/>
                </a:solidFill>
                <a:latin typeface="Inter"/>
              </a:rPr>
              <a:t>System design: two tiers, one 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4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1556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  <a:latin typeface="Inter"/>
              </a:rPr>
              <a:t>Most on-device requests do not need a model to </a:t>
            </a:r>
            <a:r>
              <a:rPr sz="1500" b="0" i="1">
                <a:solidFill>
                  <a:srgbClr val="333333"/>
                </a:solidFill>
                <a:latin typeface="Inter"/>
              </a:rPr>
              <a:t>reason</a:t>
            </a:r>
            <a:r>
              <a:rPr sz="1500" b="0" i="0">
                <a:solidFill>
                  <a:srgbClr val="333333"/>
                </a:solidFill>
                <a:latin typeface="Inter"/>
              </a:rPr>
              <a:t>; they need a model to </a:t>
            </a:r>
            <a:r>
              <a:rPr sz="1500" b="1" i="1">
                <a:solidFill>
                  <a:srgbClr val="8A7129"/>
                </a:solidFill>
                <a:latin typeface="Inter"/>
              </a:rPr>
              <a:t>fill in a blank</a:t>
            </a:r>
            <a:r>
              <a:rPr sz="1500" b="0" i="0">
                <a:solidFill>
                  <a:srgbClr val="333333"/>
                </a:solidFill>
                <a:latin typeface="Inter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Inter"/>
              </a:rPr>
              <a:t>user
request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40280" y="3035808"/>
            <a:ext cx="640080" cy="0"/>
          </a:xfrm>
          <a:prstGeom prst="line">
            <a:avLst/>
          </a:prstGeom>
          <a:ln w="22225">
            <a:solidFill>
              <a:srgbClr val="7575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0360" y="2606040"/>
            <a:ext cx="1463040" cy="8686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Inter"/>
              </a:rPr>
              <a:t>Router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343400" y="2331720"/>
            <a:ext cx="1005840" cy="502920"/>
          </a:xfrm>
          <a:prstGeom prst="line">
            <a:avLst/>
          </a:prstGeom>
          <a:ln w="22225">
            <a:solidFill>
              <a:srgbClr val="8A712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43400" y="3246120"/>
            <a:ext cx="1005840" cy="502919"/>
          </a:xfrm>
          <a:prstGeom prst="line">
            <a:avLst/>
          </a:prstGeom>
          <a:ln w="22225">
            <a:solidFill>
              <a:srgbClr val="7575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34840" y="22128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A7129"/>
                </a:solidFill>
                <a:latin typeface="JetBrains Mono"/>
              </a:rPr>
              <a:t>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6393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757575"/>
                </a:solidFill>
                <a:latin typeface="JetBrains Mono"/>
              </a:rPr>
              <a:t>tail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192024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FDE6E"/>
          </a:solidFill>
          <a:ln w="15240">
            <a:solidFill>
              <a:srgbClr val="8A71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Inter"/>
              </a:rPr>
              <a:t>Reflexer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0000"/>
                </a:solidFill>
                <a:latin typeface="Inter"/>
              </a:rPr>
              <a:t>2B · one forward 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9240" y="342900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Inter"/>
              </a:rPr>
              <a:t>Thinker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57575"/>
                </a:solidFill>
                <a:latin typeface="Inter"/>
              </a:rPr>
              <a:t>agent loop · the tail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35240" y="2350008"/>
            <a:ext cx="1005840" cy="530352"/>
          </a:xfrm>
          <a:prstGeom prst="line">
            <a:avLst/>
          </a:prstGeom>
          <a:ln w="22225">
            <a:solidFill>
              <a:srgbClr val="8A712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635240" y="3291840"/>
            <a:ext cx="1005840" cy="566928"/>
          </a:xfrm>
          <a:prstGeom prst="line">
            <a:avLst/>
          </a:prstGeom>
          <a:ln w="22225">
            <a:solidFill>
              <a:srgbClr val="7575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41080" y="260604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0000"/>
                </a:solidFill>
                <a:latin typeface="JetBrains Mono"/>
              </a:rPr>
              <a:t>skill CLI → device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09160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350" b="1" i="0">
                <a:solidFill>
                  <a:srgbClr val="000000"/>
                </a:solidFill>
                <a:latin typeface="Inter"/>
              </a:rPr>
              <a:t>Reflexer — an executioner, not a generator</a:t>
            </a:r>
            <a:r>
              <a:rPr sz="1350" b="0" i="0">
                <a:solidFill>
                  <a:srgbClr val="333333"/>
                </a:solidFill>
                <a:latin typeface="Inter"/>
              </a:rPr>
              <a:t>  —  extracts slots, fills a fixed command template, emits one shell command; escalates on any failure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3951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350" b="1" i="0">
                <a:solidFill>
                  <a:srgbClr val="000000"/>
                </a:solidFill>
                <a:latin typeface="Inter"/>
              </a:rPr>
              <a:t>Thinker — a general ReAct agent for the tail</a:t>
            </a:r>
            <a:r>
              <a:rPr sz="1350" b="0" i="0">
                <a:solidFill>
                  <a:srgbClr val="333333"/>
                </a:solidFill>
                <a:latin typeface="Inter"/>
              </a:rPr>
              <a:t>  —  multi-intent, planning, undistilled intents; built on the Pi coding-agent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6986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350" b="1" i="0">
                <a:solidFill>
                  <a:srgbClr val="000000"/>
                </a:solidFill>
                <a:latin typeface="Inter"/>
              </a:rPr>
              <a:t>Skills — deep modules behind a CLI</a:t>
            </a:r>
            <a:r>
              <a:rPr sz="1350" b="0" i="0">
                <a:solidFill>
                  <a:srgbClr val="333333"/>
                </a:solidFill>
                <a:latin typeface="Inter"/>
              </a:rPr>
              <a:t>  —  small intent-shaped vocabulary (clock timer -duration 10m) hiding messy device mechanism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00000"/>
                </a:solidFill>
                <a:latin typeface="Inter"/>
              </a:rPr>
              <a:t>Symbolic distillation: teacher → pattern → student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757575"/>
                </a:solidFill>
                <a:latin typeface="JetBrains Mono"/>
              </a:rPr>
              <a:t>OFFLINE — once per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2344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757575"/>
                </a:solidFill>
                <a:latin typeface="JetBrains Mono"/>
              </a:rPr>
              <a:t>ON-DEVICE — every request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656832" y="1280160"/>
            <a:ext cx="18288" cy="237744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JetBrains Mono"/>
              </a:rPr>
              <a:t>SKILL.md
+ schema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8880" y="2258568"/>
            <a:ext cx="640080" cy="0"/>
          </a:xfrm>
          <a:prstGeom prst="line">
            <a:avLst/>
          </a:prstGeom>
          <a:ln w="22225">
            <a:solidFill>
              <a:srgbClr val="7575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108960" y="182880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Inter"/>
              </a:rPr>
              <a:t>Teacher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57575"/>
                </a:solidFill>
                <a:latin typeface="Inter"/>
              </a:rPr>
              <a:t>strong model, one pass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37760" y="2258568"/>
            <a:ext cx="640080" cy="0"/>
          </a:xfrm>
          <a:prstGeom prst="line">
            <a:avLst/>
          </a:prstGeom>
          <a:ln w="22225">
            <a:solidFill>
              <a:srgbClr val="8A712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577840" y="1828800"/>
            <a:ext cx="1737360" cy="868680"/>
          </a:xfrm>
          <a:prstGeom prst="roundRect">
            <a:avLst>
              <a:gd name="adj" fmla="val 12000"/>
            </a:avLst>
          </a:prstGeom>
          <a:solidFill>
            <a:srgbClr val="FFDE6E"/>
          </a:solidFill>
          <a:ln w="15240">
            <a:solidFill>
              <a:srgbClr val="8A71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JetBrains Mono"/>
              </a:rPr>
              <a:t>pattern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Inter"/>
              </a:rPr>
              <a:t>frozen JSON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0" y="2258568"/>
            <a:ext cx="640079" cy="0"/>
          </a:xfrm>
          <a:prstGeom prst="line">
            <a:avLst/>
          </a:prstGeom>
          <a:ln w="22225">
            <a:solidFill>
              <a:srgbClr val="8A712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55279" y="182880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Inter"/>
              </a:rPr>
              <a:t>Reflexer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57575"/>
                </a:solidFill>
                <a:latin typeface="Inter"/>
              </a:rPr>
              <a:t>2B student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84080" y="2258568"/>
            <a:ext cx="640080" cy="0"/>
          </a:xfrm>
          <a:prstGeom prst="line">
            <a:avLst/>
          </a:prstGeom>
          <a:ln w="22225">
            <a:solidFill>
              <a:srgbClr val="7575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424160" y="182880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0000"/>
                </a:solidFill>
                <a:latin typeface="Inter"/>
              </a:rPr>
              <a:t>device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78892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trigger · typed slots · args_template · validators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350" b="1" i="0">
                <a:solidFill>
                  <a:srgbClr val="000000"/>
                </a:solidFill>
                <a:latin typeface="Inter"/>
              </a:rPr>
              <a:t>Distill into a symbolic artifact, not student weights</a:t>
            </a:r>
            <a:r>
              <a:rPr sz="1350" b="0" i="0">
                <a:solidFill>
                  <a:srgbClr val="333333"/>
                </a:solidFill>
                <a:latin typeface="Inter"/>
              </a:rPr>
              <a:t>  —  inspectable, plug-and-play (adding a capability = adding a JSON file), auditable, composable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87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350" b="1" i="0">
                <a:solidFill>
                  <a:srgbClr val="000000"/>
                </a:solidFill>
                <a:latin typeface="Inter"/>
              </a:rPr>
              <a:t>Two regimes</a:t>
            </a:r>
            <a:r>
              <a:rPr sz="1350" b="0" i="0">
                <a:solidFill>
                  <a:srgbClr val="333333"/>
                </a:solidFill>
                <a:latin typeface="Inter"/>
              </a:rPr>
              <a:t>  —  cold-start (teacher sees only docs + schema) vs. session-grounded (teacher reads the real device)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54296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350" b="1" i="0">
                <a:solidFill>
                  <a:srgbClr val="000000"/>
                </a:solidFill>
                <a:latin typeface="Inter"/>
              </a:rPr>
              <a:t>Integrity by construction</a:t>
            </a:r>
            <a:r>
              <a:rPr sz="1350" b="0" i="0">
                <a:solidFill>
                  <a:srgbClr val="333333"/>
                </a:solidFill>
                <a:latin typeface="Inter"/>
              </a:rPr>
              <a:t>  —  the teacher never sees evaluation tasks or gold outcomes; a minted pattern is frozen, never edited after failures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7" y="5532120"/>
            <a:ext cx="11146536" cy="658368"/>
          </a:xfrm>
          <a:prstGeom prst="rect">
            <a:avLst/>
          </a:prstGeom>
          <a:solidFill>
            <a:srgbClr val="EDEDED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3333"/>
                </a:solidFill>
                <a:latin typeface="Inter"/>
              </a:rPr>
              <a:t>Same teacher→student axis as classical distillation (Hinton et al.), </a:t>
            </a:r>
            <a:r>
              <a:rPr sz="1400" b="0" i="0">
                <a:solidFill>
                  <a:srgbClr val="333333"/>
                </a:solidFill>
                <a:latin typeface="Inter"/>
              </a:rPr>
              <a:t>different target: </a:t>
            </a:r>
            <a:r>
              <a:rPr sz="1400" b="1" i="0">
                <a:solidFill>
                  <a:srgbClr val="000000"/>
                </a:solidFill>
                <a:latin typeface="Inter"/>
              </a:rPr>
              <a:t>knowledge into an artifact the user can read.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00000"/>
                </a:solidFill>
                <a:latin typeface="Inter"/>
              </a:rPr>
              <a:t>Methodology: measuring only what is claimed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80160"/>
            <a:ext cx="5422392" cy="2084831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280160"/>
            <a:ext cx="542239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" y="149961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8A7129"/>
                </a:solidFill>
                <a:latin typeface="JetBrains Mono"/>
              </a:rPr>
              <a:t>BINDING-ONLY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00000"/>
                </a:solidFill>
                <a:latin typeface="Inter"/>
              </a:rPr>
              <a:t>Isolate execution from routing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Inter"/>
              </a:rPr>
              <a:t>routing assumed perfect: reflexer gets the gold pattern, thinker gets the right docs — only binding is under test; routing is measured separately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280160"/>
            <a:ext cx="5422392" cy="2084831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280160"/>
            <a:ext cx="542239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9961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8A7129"/>
                </a:solidFill>
                <a:latin typeface="JetBrains Mono"/>
              </a:rPr>
              <a:t>END-STATE ORACLE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00000"/>
                </a:solidFill>
                <a:latin typeface="Inter"/>
              </a:rPr>
              <a:t>Success = final device state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Inter"/>
              </a:rPr>
              <a:t>requested keys reach target values and nothing else changed (no collateral edits); catches “right-looking command, wrong outcome”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7" y="3520440"/>
            <a:ext cx="5422392" cy="2084831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7" y="3520440"/>
            <a:ext cx="542239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" y="373989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8A7129"/>
                </a:solidFill>
                <a:latin typeface="JetBrains Mono"/>
              </a:rPr>
              <a:t>BENCHMARKS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00000"/>
                </a:solidFill>
                <a:latin typeface="Inter"/>
              </a:rPr>
              <a:t>Three difficulty brackets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Inter"/>
              </a:rPr>
              <a:t>409 expansion atoms across 7 skills · SET-1 clean settings API (30 tasks) · SET-2 realistic Android API, 32 settings, non-obvious encodings (48 tasks)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3520440"/>
            <a:ext cx="5422392" cy="2084831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3520440"/>
            <a:ext cx="542239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73989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8A7129"/>
                </a:solidFill>
                <a:latin typeface="JetBrains Mono"/>
              </a:rPr>
              <a:t>INTEGRITY PROTOCOL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00000"/>
                </a:solidFill>
                <a:latin typeface="Inter"/>
              </a:rPr>
              <a:t>Rules stated before results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Inter"/>
              </a:rPr>
              <a:t>no fabricated numbers (every figure cites a saved run) · no benchmark leakage into patterns · sandboxed, destroyed-after-use state · sequential runs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580644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57575"/>
                </a:solidFill>
                <a:latin typeface="JetBrains Mono"/>
              </a:rPr>
              <a:t>All models Q4-quantized GGUF (phone-class memory) · served by llama.cpp · agent loop driven by 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00000"/>
                </a:solidFill>
                <a:latin typeface="Inter"/>
              </a:rPr>
              <a:t>Result 1 — Distillation substitutes for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4300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757575"/>
                </a:solidFill>
                <a:latin typeface="Inter"/>
              </a:rPr>
              <a:t>Binding accuracy, balanced-10, routing held fixed (binding-only).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5212079"/>
            <a:ext cx="6217920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4238244"/>
            <a:ext cx="1209979" cy="973836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45635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JetBrains Mono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Inter"/>
              </a:rPr>
              <a:t>Thinker 2B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57575"/>
                </a:solidFill>
                <a:latin typeface="Inter"/>
              </a:rPr>
              <a:t>free-form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44673" y="4887467"/>
            <a:ext cx="1209979" cy="324612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1793" y="4594859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JetBrains Mono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6073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Inter"/>
              </a:rPr>
              <a:t>Thinker 4B*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57575"/>
                </a:solidFill>
                <a:latin typeface="Inter"/>
              </a:rPr>
              <a:t>free-form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3506" y="1965959"/>
            <a:ext cx="1209979" cy="32461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00626" y="1673351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JetBrains Mono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4906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Inter"/>
              </a:rPr>
              <a:t>Thinker 35B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57575"/>
                </a:solidFill>
                <a:latin typeface="Inter"/>
              </a:rPr>
              <a:t>free-form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22340" y="1965959"/>
            <a:ext cx="1209979" cy="3246120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39460" y="1673351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7129"/>
                </a:solidFill>
                <a:latin typeface="JetBrains Mono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3740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Inter"/>
              </a:rPr>
              <a:t>Reflexer 2B
+ pattern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57575"/>
                </a:solidFill>
                <a:latin typeface="Inter"/>
              </a:rPr>
              <a:t>one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806440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Inter"/>
              </a:rPr>
              <a:t>*4B at ctx 4000 (confound) — scale alone is non-monotonic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1874519"/>
            <a:ext cx="3931920" cy="129844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2711" y="2020824"/>
            <a:ext cx="3474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8A7129"/>
                </a:solidFill>
                <a:latin typeface="JetBrains Mono"/>
              </a:rPr>
              <a:t>100% = 100%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Inter"/>
              </a:rPr>
              <a:t>the 2B reflexer with a distilled pattern equals the 35B free-form thinker — at ~17× fewer parameters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79" y="3319272"/>
            <a:ext cx="3931920" cy="129844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3465576"/>
            <a:ext cx="3474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8A7129"/>
                </a:solidFill>
                <a:latin typeface="JetBrains Mono"/>
              </a:rPr>
              <a:t>&lt;1 s vs 6.4 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Inter"/>
              </a:rPr>
              <a:t>one on-device forward pass (~0.3k tokens) vs an off-device agent loop (~1.3k tokens)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79" y="4764024"/>
            <a:ext cx="3931920" cy="129844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82711" y="4910328"/>
            <a:ext cx="3474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8A7129"/>
                </a:solidFill>
                <a:latin typeface="JetBrains Mono"/>
              </a:rPr>
              <a:t>72/72 vs 14/72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Inter"/>
              </a:rPr>
              <a:t>the effect persists on the full atom set: reflexer 100%, unaided 2B thinker 19.4%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7" y="6199632"/>
            <a:ext cx="11146536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00000"/>
                </a:solidFill>
                <a:latin typeface="Inter"/>
              </a:rPr>
              <a:t>Result 2 — Scale buys discovery, not convention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34440"/>
            <a:ext cx="5394960" cy="2651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757575"/>
                </a:solidFill>
                <a:latin typeface="JetBrains Mono"/>
              </a:rPr>
              <a:t>SET-1 · CLEAN API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Inter"/>
              </a:rPr>
              <a:t>Efficiency win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3474720"/>
            <a:ext cx="2834640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34440" y="3079699"/>
            <a:ext cx="1275588" cy="39502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787091"/>
            <a:ext cx="16413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JetBrains Mono"/>
              </a:rPr>
              <a:t>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47872"/>
            <a:ext cx="17327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Inter"/>
              </a:rPr>
              <a:t>manual edit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57575"/>
                </a:solidFill>
                <a:latin typeface="Inter"/>
              </a:rPr>
              <a:t>9 calls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02052" y="2240280"/>
            <a:ext cx="1275588" cy="1234440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9172" y="1947672"/>
            <a:ext cx="16413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A7129"/>
                </a:solidFill>
                <a:latin typeface="JetBrains Mono"/>
              </a:rP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73452" y="3547872"/>
            <a:ext cx="17327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33333"/>
                </a:solidFill>
                <a:latin typeface="Inter"/>
              </a:rPr>
              <a:t>deep tool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57575"/>
                </a:solidFill>
                <a:latin typeface="Inter"/>
              </a:rPr>
              <a:t>2 calls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286000"/>
            <a:ext cx="160020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8A7129"/>
                </a:solidFill>
                <a:latin typeface="JetBrains Mono"/>
              </a:rPr>
              <a:t>+65 pts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Inter"/>
              </a:rPr>
              <a:t>3098 → 775 tokens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1234440"/>
            <a:ext cx="5422392" cy="2651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141732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757575"/>
                </a:solidFill>
                <a:latin typeface="JetBrains Mono"/>
              </a:rPr>
              <a:t>SET-2 · REALISTIC ANDROID API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Inter"/>
              </a:rPr>
              <a:t>Accuracy win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3474720"/>
            <a:ext cx="4206240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3166110"/>
            <a:ext cx="1179576" cy="30861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873502"/>
            <a:ext cx="1545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JetBrains Mono"/>
              </a:rPr>
              <a:t>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547872"/>
            <a:ext cx="16367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Inter"/>
              </a:rPr>
              <a:t>Thinker 2B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57575"/>
                </a:solidFill>
                <a:latin typeface="Inter"/>
              </a:rPr>
              <a:t>free-form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71331" y="2703195"/>
            <a:ext cx="1179576" cy="771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8452" y="2410587"/>
            <a:ext cx="1545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JetBrains Mono"/>
              </a:rPr>
              <a:t>62.5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2731" y="3547872"/>
            <a:ext cx="16367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Inter"/>
              </a:rPr>
              <a:t>Thinker 35B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57575"/>
                </a:solidFill>
                <a:latin typeface="Inter"/>
              </a:rPr>
              <a:t>reasoning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38944" y="2487168"/>
            <a:ext cx="1179576" cy="987552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56064" y="2194560"/>
            <a:ext cx="1545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A7129"/>
                </a:solidFill>
                <a:latin typeface="JetBrains Mono"/>
              </a:rPr>
              <a:t>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0344" y="3547872"/>
            <a:ext cx="16367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33333"/>
                </a:solidFill>
                <a:latin typeface="Inter"/>
              </a:rPr>
              <a:t>Reflexer 2B
+ distilled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57575"/>
                </a:solidFill>
                <a:latin typeface="Inter"/>
              </a:rPr>
              <a:t>one 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7" y="4160520"/>
            <a:ext cx="11146536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315968"/>
            <a:ext cx="106070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57575"/>
                </a:solidFill>
                <a:latin typeface="JetBrains Mono"/>
              </a:rPr>
              <a:t>THE 35B'S FAILURES ARE CONVENTIONS, NOT DISCOVERY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Inter"/>
              </a:rPr>
              <a:t>“largest font”   </a:t>
            </a:r>
            <a:r>
              <a:rPr sz="1250" b="1" i="0">
                <a:solidFill>
                  <a:srgbClr val="8A7129"/>
                </a:solidFill>
                <a:latin typeface="JetBrains Mono"/>
              </a:rPr>
              <a:t>correct: font_scale "1.30"</a:t>
            </a:r>
            <a:r>
              <a:rPr sz="1250" b="0" i="0">
                <a:solidFill>
                  <a:srgbClr val="757575"/>
                </a:solidFill>
                <a:latin typeface="JetBrains Mono"/>
              </a:rPr>
              <a:t>    35B produced: "1.5"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Inter"/>
              </a:rPr>
              <a:t>“DND total silence”   </a:t>
            </a:r>
            <a:r>
              <a:rPr sz="1250" b="1" i="0">
                <a:solidFill>
                  <a:srgbClr val="8A7129"/>
                </a:solidFill>
                <a:latin typeface="JetBrains Mono"/>
              </a:rPr>
              <a:t>correct: zen_mode 2</a:t>
            </a:r>
            <a:r>
              <a:rPr sz="1250" b="0" i="0">
                <a:solidFill>
                  <a:srgbClr val="757575"/>
                </a:solidFill>
                <a:latin typeface="JetBrains Mono"/>
              </a:rPr>
              <a:t>    35B produced: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57575"/>
                </a:solidFill>
                <a:latin typeface="Inter"/>
              </a:rPr>
              <a:t>It finds the right key by exploring (discovery) — then guesses the value and is wrong the same way every time.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7" y="5779008"/>
            <a:ext cx="11146536" cy="566928"/>
          </a:xfrm>
          <a:prstGeom prst="rect">
            <a:avLst/>
          </a:prstGeom>
          <a:solidFill>
            <a:srgbClr val="EDEDED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779008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3333"/>
                </a:solidFill>
                <a:latin typeface="Inter"/>
              </a:rPr>
              <a:t>Convention is not discoverable from the API. </a:t>
            </a:r>
            <a:r>
              <a:rPr sz="1400" b="1" i="0">
                <a:solidFill>
                  <a:srgbClr val="000000"/>
                </a:solidFill>
                <a:latin typeface="Inter"/>
              </a:rPr>
              <a:t>Scale rescues discovery; only a distilled pattern carries the convention.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00000"/>
                </a:solidFill>
                <a:latin typeface="Inter"/>
              </a:rPr>
              <a:t>Result 3 — Teacher quality, economics, and the honest bottleneck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80160"/>
            <a:ext cx="3639312" cy="4800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280160"/>
            <a:ext cx="363931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17904"/>
            <a:ext cx="3154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757575"/>
                </a:solidFill>
                <a:latin typeface="JetBrains Mono"/>
              </a:rPr>
              <a:t>TEACHER QUALITY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8A7129"/>
                </a:solidFill>
                <a:latin typeface="JetBrains Mono"/>
              </a:rPr>
              <a:t>25% → 76–80%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200" b="0" i="0">
                <a:solidFill>
                  <a:srgbClr val="333333"/>
                </a:solidFill>
                <a:latin typeface="Inter"/>
              </a:rPr>
              <a:t>cold-start distillation: the teacher sees only docs + schema, never a task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200" b="0" i="0">
                <a:solidFill>
                  <a:srgbClr val="333333"/>
                </a:solidFill>
                <a:latin typeface="Inter"/>
              </a:rPr>
              <a:t>cloud teacher (Sonnet 4.6): reflexer passes 80% · local 35B teacher: 60%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200" b="0" i="0">
                <a:solidFill>
                  <a:srgbClr val="333333"/>
                </a:solidFill>
                <a:latin typeface="Inter"/>
              </a:rPr>
              <a:t>the student faithfully executes whatever the teacher encoded — teacher choice propagates directly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4820" y="1280160"/>
            <a:ext cx="3639312" cy="4800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4820" y="1280160"/>
            <a:ext cx="363931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0852" y="1517904"/>
            <a:ext cx="3154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757575"/>
                </a:solidFill>
                <a:latin typeface="JetBrains Mono"/>
              </a:rPr>
              <a:t>ECONOMICS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8A7129"/>
                </a:solidFill>
                <a:latin typeface="JetBrains Mono"/>
              </a:rPr>
              <a:t>break-even ≈ 10 calls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200" b="0" i="0">
                <a:solidFill>
                  <a:srgbClr val="333333"/>
                </a:solidFill>
                <a:latin typeface="Inter"/>
              </a:rPr>
              <a:t>mint once: ~5–15k teacher tokens · run forever: ~0.3k tokens, &lt;1 s, on-device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200" b="0" i="0">
                <a:solidFill>
                  <a:srgbClr val="333333"/>
                </a:solidFill>
                <a:latin typeface="Inter"/>
              </a:rPr>
              <a:t>head intent invoked thousands of times → 100–1000× net win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200" b="0" i="0">
                <a:solidFill>
                  <a:srgbClr val="333333"/>
                </a:solidFill>
                <a:latin typeface="Inter"/>
              </a:rPr>
              <a:t>big model spent where it pays: offline teacher + tail fallback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2" y="1280160"/>
            <a:ext cx="3639312" cy="4800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2" y="1280160"/>
            <a:ext cx="363931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517904"/>
            <a:ext cx="3154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757575"/>
                </a:solidFill>
                <a:latin typeface="JetBrains Mono"/>
              </a:rPr>
              <a:t>HONEST BOTTLENECK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8A7129"/>
                </a:solidFill>
                <a:latin typeface="JetBrains Mono"/>
              </a:rPr>
              <a:t>routing, not binding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200" b="0" i="0">
                <a:solidFill>
                  <a:srgbClr val="333333"/>
                </a:solidFill>
                <a:latin typeface="Inter"/>
              </a:rPr>
              <a:t>binding is effectively solved on the deterministic slice (96–100%)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200" b="0" i="0">
                <a:solidFill>
                  <a:srgbClr val="333333"/>
                </a:solidFill>
                <a:latin typeface="Inter"/>
              </a:rPr>
              <a:t>routing reaches 66–85%: retrieval is fine (top-3), selection picks the wrong sibling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A7129"/>
                </a:solidFill>
                <a:latin typeface="Inter"/>
              </a:rPr>
              <a:t>▸ </a:t>
            </a:r>
            <a:r>
              <a:rPr sz="1200" b="0" i="0">
                <a:solidFill>
                  <a:srgbClr val="333333"/>
                </a:solidFill>
                <a:latin typeface="Inter"/>
              </a:rPr>
              <a:t>stated plainly: the open problem for a shippable system is the router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00000"/>
                </a:solidFill>
                <a:latin typeface="Inter"/>
              </a:rPr>
              <a:t>Future work — five methodologies, ordered by leverage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57575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34440"/>
            <a:ext cx="11146536" cy="841248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234440"/>
            <a:ext cx="566928" cy="8412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1234440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JetBrains Mon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325880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  <a:latin typeface="Inter"/>
              </a:rPr>
              <a:t>Session-based device grounding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Inter"/>
              </a:rPr>
              <a:t>give the teacher read-only access to the real device, so guessed conventions become observed facts; ground on a development split, never on evaluation gold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2167128"/>
            <a:ext cx="11146536" cy="841248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7" y="2167128"/>
            <a:ext cx="566928" cy="8412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" y="2167128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JetBrains Mon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258568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  <a:latin typeface="Inter"/>
              </a:rPr>
              <a:t>Deterministic value transforms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Inter"/>
              </a:rPr>
              <a:t>move arithmetic and enum lookups (percent → 0–255, label → code) out of the model into a small deterministic function inside the pattern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" y="3099816"/>
            <a:ext cx="11146536" cy="841248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1207" y="3099816"/>
            <a:ext cx="566928" cy="8412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" y="3099816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JetBrai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191256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  <a:latin typeface="Inter"/>
              </a:rPr>
              <a:t>The router: sibling discrimination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Inter"/>
              </a:rPr>
              <a:t>retrieval already places the right candidate in the top-3; invest in selection — better selection prompting or a learned selector over behavioural signals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7" y="4032504"/>
            <a:ext cx="11146536" cy="841248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7" y="4032504"/>
            <a:ext cx="566928" cy="8412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7" y="4032504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JetBrai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123944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  <a:latin typeface="Inter"/>
              </a:rPr>
              <a:t>Iterative, grounded distillation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Inter"/>
              </a:rPr>
              <a:t>run → observe failures → re-distill over 2–3 rounds, lifting a weak local teacher toward cloud quality; the runtime reflex stays a frozen single pass, with a minimality check per round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7" y="4965192"/>
            <a:ext cx="11146536" cy="841248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207" y="4965192"/>
            <a:ext cx="566928" cy="8412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7" y="4965192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JetBrains Mono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056631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0000"/>
                </a:solidFill>
                <a:latin typeface="Inter"/>
              </a:rPr>
              <a:t>Authoring &amp; personalization at scale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Inter"/>
              </a:rPr>
              <a:t>mine a user's repeated trajectories into candidate patterns; privacy-preserving pattern sharing; measure a parametric alternative (tiny fine-tune) against the symbolic approach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594360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00000"/>
                </a:solidFill>
                <a:latin typeface="Inter"/>
              </a:rPr>
              <a:t>Development substrate: </a:t>
            </a:r>
            <a:r>
              <a:rPr sz="1250" b="0" i="0">
                <a:solidFill>
                  <a:srgbClr val="333333"/>
                </a:solidFill>
                <a:latin typeface="Inter"/>
              </a:rPr>
              <a:t>all extensions built inside the Pi coding-agent framework — executor and agent loop share one runtime, one tool surface, one instrumentation path.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601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4800" b="1" i="0">
                <a:solidFill>
                  <a:srgbClr val="000000"/>
                </a:solidFill>
                <a:latin typeface="Inter"/>
              </a:rPr>
              <a:t>Thank you.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8A7129"/>
                </a:solidFill>
                <a:latin typeface="Inter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3248" y="3977639"/>
            <a:ext cx="1371600" cy="45720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6015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0000"/>
                </a:solidFill>
                <a:latin typeface="Inter"/>
              </a:rPr>
              <a:t>David Zoidze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57575"/>
                </a:solidFill>
                <a:latin typeface="Inter"/>
              </a:rPr>
              <a:t>A.L.F.R.E.D.: Adaptive Local-First Routing and Execution Distillation for Small Language Models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57575"/>
                </a:solidFill>
                <a:latin typeface="JetBrains Mono"/>
              </a:rPr>
              <a:t>International Black Sea University · Tbilisi ·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